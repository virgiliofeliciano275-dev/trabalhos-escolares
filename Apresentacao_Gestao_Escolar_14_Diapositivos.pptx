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09691"/>
                </a:solidFill>
                <a:latin typeface="Aptos"/>
              </a:defRPr>
            </a:pPr>
            <a:r>
              <a:t>PROJETO DE SISTEMA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7589520" cy="18288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GESTÃO</a:t>
            </a:r>
          </a:p>
          <a:p>
            <a:pPr algn="l">
              <a:spcAft>
                <a:spcPts val="8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ESCOLAR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8961120" cy="7315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DAE8F4"/>
                </a:solidFill>
                <a:latin typeface="Aptos"/>
              </a:defRPr>
            </a:pPr>
            <a:r>
              <a:t>Automatização dos processos administrativos e académicos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83480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[NOME DA ESCOLA]  •  [NOME COMPLETO]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32120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DAE8F4"/>
                </a:solidFill>
                <a:latin typeface="Aptos"/>
              </a:defRPr>
            </a:pPr>
            <a:r>
              <a:t>Técnico de Informática de Gestão  |  13.ª classe  |  Turma CTI  |  N.º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72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009691"/>
                </a:solidFill>
                <a:latin typeface="Aptos"/>
              </a:defRPr>
            </a:pPr>
            <a:r>
              <a:t>LUANDA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Introdução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98480" cy="46634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22B4A"/>
                </a:solidFill>
                <a:latin typeface="Aptos"/>
              </a:defRPr>
            </a:pPr>
            <a:r>
              <a:t>•  A gestão escolar depende de informação organizada e atualizada.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22B4A"/>
                </a:solidFill>
                <a:latin typeface="Aptos"/>
              </a:defRPr>
            </a:pPr>
            <a:r>
              <a:t>•  Processos manuais ou ficheiros dispersos podem dificultar a consulta.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22B4A"/>
                </a:solidFill>
                <a:latin typeface="Aptos"/>
              </a:defRPr>
            </a:pPr>
            <a:r>
              <a:t>•  A proposta centraliza dados numa aplicação web.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22B4A"/>
                </a:solidFill>
                <a:latin typeface="Aptos"/>
              </a:defRPr>
            </a:pPr>
            <a:r>
              <a:t>•  O sistema é uma proposta a implementar e testar.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Problema e pergunta de investigação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81912"/>
            <a:ext cx="488289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03120"/>
            <a:ext cx="4882896" cy="10515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Possíveis dificuldades na organização, atualização e consulta dos dados escolares.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182880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81912"/>
            <a:ext cx="488289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PERGUNTA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103120"/>
            <a:ext cx="4882896" cy="10515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Como pode um sistema web melhorar a eficiência dos processos administrativos e académicos?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546374"/>
                </a:solidFill>
                <a:latin typeface="Aptos"/>
              </a:defRPr>
            </a:pPr>
            <a:r>
              <a:t>Nota: o problema será confirmado numa instituição real apenas com recolha de dados.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Justificação e intenção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04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27632"/>
            <a:ext cx="314553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ORGANIZAÇÃO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3145536" cy="1600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Centralizar dados e reduzir duplicação.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237744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27632"/>
            <a:ext cx="314553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CONSULTA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148840"/>
            <a:ext cx="3145536" cy="1600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Facilitar pesquisa e relatórios.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627632"/>
            <a:ext cx="314553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APRENDIZAGEM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148840"/>
            <a:ext cx="3145536" cy="1600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Aplicar conhecimentos de Informática de Gestão.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22B4A"/>
                </a:solidFill>
                <a:latin typeface="Aptos"/>
              </a:defRPr>
            </a:pPr>
            <a:r>
              <a:t>Intenção: propor uma solução informática para apoiar as tarefas escolares.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05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118872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90472"/>
            <a:ext cx="1036929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OBJETIVO GERAL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1036929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Propor um sistema web de gestão escolar para automatizar processos administrativos e académicos.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0424160" cy="2560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22B4A"/>
                </a:solidFill>
                <a:latin typeface="Aptos"/>
              </a:defRPr>
            </a:pPr>
            <a:r>
              <a:t>•  Identificar necessidades e estudar um sistema semelhante.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22B4A"/>
                </a:solidFill>
                <a:latin typeface="Aptos"/>
              </a:defRPr>
            </a:pPr>
            <a:r>
              <a:t>•  Definir requisitos e selecionar tecnologias.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22B4A"/>
                </a:solidFill>
                <a:latin typeface="Aptos"/>
              </a:defRPr>
            </a:pPr>
            <a:r>
              <a:t>•  Projetar arquitetura, dados, segurança e testes.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Metodologia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06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B4A"/>
                </a:solidFill>
                <a:latin typeface="Aptos"/>
              </a:defRPr>
            </a:pPr>
            <a:r>
              <a:t>1</a:t>
            </a:r>
            <a:br/>
            <a:r>
              <a:t>Pesquisa documental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7752" y="2487168"/>
            <a:ext cx="32004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79" y="21031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B4A"/>
                </a:solidFill>
                <a:latin typeface="Aptos"/>
              </a:defRPr>
            </a:pPr>
            <a:r>
              <a:t>2</a:t>
            </a:r>
            <a:br/>
            <a:r>
              <a:t>Análise do sistema semelhante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9472" y="2487168"/>
            <a:ext cx="32004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21031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B4A"/>
                </a:solidFill>
                <a:latin typeface="Aptos"/>
              </a:defRPr>
            </a:pPr>
            <a:r>
              <a:t>3</a:t>
            </a:r>
            <a:br/>
            <a:r>
              <a:t>Definição de requisitos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1192" y="2487168"/>
            <a:ext cx="32004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19" y="21031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B4A"/>
                </a:solidFill>
                <a:latin typeface="Aptos"/>
              </a:defRPr>
            </a:pPr>
            <a:r>
              <a:t>4</a:t>
            </a:r>
            <a:br/>
            <a:r>
              <a:t>Proposta de arquitetura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911" y="2487168"/>
            <a:ext cx="32004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21031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B4A"/>
                </a:solidFill>
                <a:latin typeface="Aptos"/>
              </a:defRPr>
            </a:pPr>
            <a:r>
              <a:t>5</a:t>
            </a:r>
            <a:br/>
            <a:r>
              <a:t>Planeamento de testes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546374"/>
                </a:solidFill>
                <a:latin typeface="Aptos"/>
              </a:defRPr>
            </a:pPr>
            <a:r>
              <a:t>O estudo de caso é hipotético; não representa resultados de campo.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Estudo de caso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122B4A"/>
                </a:solidFill>
                <a:latin typeface="Aptos"/>
              </a:defRPr>
            </a:pPr>
            <a:r>
              <a:t>Cenário hipotético: instituição de ensino que precisa de organizar a informação.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04872"/>
            <a:ext cx="47000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Alunos e docentes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0"/>
            <a:ext cx="4700016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Registos atualizados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029200" cy="123444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2404872"/>
            <a:ext cx="47000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Turmas e matrículas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926080"/>
            <a:ext cx="4700016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Associação correta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60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959352"/>
            <a:ext cx="47000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Notas e presença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480560"/>
            <a:ext cx="4700016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Acompanhamento académico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94760"/>
            <a:ext cx="5029200" cy="123444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959352"/>
            <a:ext cx="47000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Relatórios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480560"/>
            <a:ext cx="4700016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Informação consolidada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Sistema semelhante: Frappe Education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08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292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90472"/>
            <a:ext cx="47000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FUNCIONALIDADES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4700016" cy="2788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Alunos e professores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Admissões e pagamentos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Horários e avaliações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Portal do estudante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029200" cy="356616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490472"/>
            <a:ext cx="47000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REFERÊNCIA TÉCNICA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011680"/>
            <a:ext cx="4700016" cy="2788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Ecossistema Frappe/ERPNext; utiliza Python e JavaScript. A interface Frappe UI é baseada em Vue.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546374"/>
                </a:solidFill>
                <a:latin typeface="Aptos"/>
              </a:defRPr>
            </a:pPr>
            <a:r>
              <a:t>A comparação é documental; não foram realizados testes de desempenho ou segurança.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Tecnologias selecionadas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09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36192"/>
            <a:ext cx="21854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057400"/>
            <a:ext cx="2185416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Linguagem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371600"/>
            <a:ext cx="2514600" cy="132588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1536192"/>
            <a:ext cx="21854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057400"/>
            <a:ext cx="2185416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536192"/>
            <a:ext cx="21854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057400"/>
            <a:ext cx="2185416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Execução no servidor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371600"/>
            <a:ext cx="2514600" cy="132588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54312" y="1536192"/>
            <a:ext cx="21854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Next.js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4312" y="2057400"/>
            <a:ext cx="2185416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Estrutura web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04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364992"/>
            <a:ext cx="21854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886200"/>
            <a:ext cx="2185416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Base de dados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3200400"/>
            <a:ext cx="2514600" cy="132588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5032" y="3364992"/>
            <a:ext cx="21854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Tailwind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3886200"/>
            <a:ext cx="2185416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Estilos responsivos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2004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364992"/>
            <a:ext cx="21854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Git + 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886200"/>
            <a:ext cx="2185416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Versões e repositório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Arquitetura lógica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10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554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B4A"/>
                </a:solidFill>
                <a:latin typeface="Aptos"/>
              </a:defRPr>
            </a:pPr>
            <a:r>
              <a:t>Utilizadores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560320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2240280"/>
            <a:ext cx="1554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B4A"/>
                </a:solidFill>
                <a:latin typeface="Aptos"/>
              </a:defRPr>
            </a:pPr>
            <a:r>
              <a:t>Navegador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560320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40280"/>
            <a:ext cx="1554480" cy="1097280"/>
          </a:xfrm>
          <a:prstGeom prst="roundRect">
            <a:avLst/>
          </a:prstGeom>
          <a:solidFill>
            <a:srgbClr val="E0F1F2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B4A"/>
                </a:solidFill>
                <a:latin typeface="Aptos"/>
              </a:defRPr>
            </a:pPr>
            <a:r>
              <a:t>React +</a:t>
            </a:r>
            <a:br/>
            <a:r>
              <a:t>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560320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40280"/>
            <a:ext cx="1554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B4A"/>
                </a:solidFill>
                <a:latin typeface="Aptos"/>
              </a:defRPr>
            </a:pPr>
            <a:r>
              <a:t>Next.js /</a:t>
            </a:r>
            <a:br/>
            <a:r>
              <a:t>Node.js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560320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2240280"/>
            <a:ext cx="1554480" cy="1097280"/>
          </a:xfrm>
          <a:prstGeom prst="roundRect">
            <a:avLst/>
          </a:prstGeom>
          <a:solidFill>
            <a:srgbClr val="E0F1F2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B4A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241280" cy="7315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546374"/>
                </a:solidFill>
                <a:latin typeface="Aptos"/>
              </a:defRPr>
            </a:pPr>
            <a:r>
              <a:t>A lógica de negócio valida os dados e as permissões antes de consultar ou alterar a base de dados.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Como funciona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11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B4A"/>
                </a:solidFill>
                <a:latin typeface="Aptos"/>
              </a:defRPr>
            </a:pPr>
            <a:r>
              <a:t>1. Iniciar sessão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246120" cy="1097280"/>
          </a:xfrm>
          <a:prstGeom prst="roundRect">
            <a:avLst/>
          </a:prstGeom>
          <a:solidFill>
            <a:srgbClr val="E0F1F2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B4A"/>
                </a:solidFill>
                <a:latin typeface="Aptos"/>
              </a:defRPr>
            </a:pPr>
            <a:r>
              <a:t>2. Verificar perfil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41732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B4A"/>
                </a:solidFill>
                <a:latin typeface="Aptos"/>
              </a:defRPr>
            </a:pPr>
            <a:r>
              <a:t>3. Introduzir dados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566160"/>
            <a:ext cx="3246120" cy="1097280"/>
          </a:xfrm>
          <a:prstGeom prst="roundRect">
            <a:avLst/>
          </a:prstGeom>
          <a:solidFill>
            <a:srgbClr val="E0F1F2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B4A"/>
                </a:solidFill>
                <a:latin typeface="Aptos"/>
              </a:defRPr>
            </a:pPr>
            <a:r>
              <a:t>4. Validar pedido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56616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B4A"/>
                </a:solidFill>
                <a:latin typeface="Aptos"/>
              </a:defRPr>
            </a:pPr>
            <a:r>
              <a:t>5. Guardar/consultar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3566160"/>
            <a:ext cx="3246120" cy="1097280"/>
          </a:xfrm>
          <a:prstGeom prst="roundRect">
            <a:avLst/>
          </a:prstGeom>
          <a:solidFill>
            <a:srgbClr val="E0F1F2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B4A"/>
                </a:solidFill>
                <a:latin typeface="Aptos"/>
              </a:defRPr>
            </a:pPr>
            <a:r>
              <a:t>6. Mostrar resultado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Funcionalidades e requisitos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12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4791455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FUNCIONAIS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4791455" cy="33375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Autenticação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Alunos e professores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Turmas e matrículas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Notas e assiduidade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Relatórios e permissões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11480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36192"/>
            <a:ext cx="4791455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NÃO FUNCIONAIS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057400"/>
            <a:ext cx="4791455" cy="33375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Interface responsiva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Validação de dados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Segurança de acesso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Cópias de segurança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• Código de fácil manutenção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22B4A"/>
                </a:solidFill>
                <a:latin typeface="Aptos"/>
              </a:defRPr>
            </a:pPr>
            <a:r>
              <a:t>Segurança, testes e resultados esperados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41832"/>
            <a:ext cx="105156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46374"/>
                </a:solidFill>
                <a:latin typeface="Aptos"/>
              </a:defRPr>
            </a:pPr>
            <a:r>
              <a:t>GESTÃO ESCOLAR  •  13.ª CLASSE                                      13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90472"/>
            <a:ext cx="314553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SEGURANÇA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3145536" cy="2697479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Autenticação, permissões, validação no servidor e backups.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74720" cy="3474720"/>
          </a:xfrm>
          <a:prstGeom prst="roundRect">
            <a:avLst/>
          </a:prstGeom>
          <a:solidFill>
            <a:srgbClr val="E0F1F2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90472"/>
            <a:ext cx="314553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TESTES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11680"/>
            <a:ext cx="3145536" cy="2697479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Acesso válido/inválido, registo, notas, pesquisa e recuperação.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490472"/>
            <a:ext cx="314553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9691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011680"/>
            <a:ext cx="3145536" cy="2697479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22B4A"/>
                </a:solidFill>
                <a:latin typeface="Aptos"/>
              </a:defRPr>
            </a:pPr>
            <a:r>
              <a:t>Melhor organização e consulta; menos repetição manual.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546374"/>
                </a:solidFill>
                <a:latin typeface="Aptos"/>
              </a:defRPr>
            </a:pPr>
            <a:r>
              <a:t>Os resultados são esperados e devem ser confirmados após implementação.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009691"/>
                </a:solidFill>
                <a:latin typeface="Aptos"/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A proposta centraliza a informação escolar e organiza os processos num sistema web.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7132320" cy="18288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E1EBF5"/>
                </a:solidFill>
                <a:latin typeface="Aptos"/>
              </a:defRPr>
            </a:pPr>
            <a:r>
              <a:t>Próximos passos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E1EBF5"/>
                </a:solidFill>
                <a:latin typeface="Aptos"/>
              </a:defRPr>
            </a:pPr>
            <a:r>
              <a:t>• Implementar os módulos essenciais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E1EBF5"/>
                </a:solidFill>
                <a:latin typeface="Aptos"/>
              </a:defRPr>
            </a:pPr>
            <a:r>
              <a:t>• Testar segurança e integridade dos dados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E1EBF5"/>
                </a:solidFill>
                <a:latin typeface="Aptos"/>
              </a:defRPr>
            </a:pPr>
            <a:r>
              <a:t>• Validar a solução com utilizadores reais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E1EBF5"/>
                </a:solidFill>
                <a:latin typeface="Aptos"/>
              </a:defRPr>
            </a:pPr>
            <a:r>
              <a:t>Referências: documentação oficial de React, TypeScript, Node.js, Next.js, PostgreSQL, Tailwind CSS, Frappe Education e OWASP.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36576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09691"/>
                </a:solidFill>
                <a:latin typeface="Aptos"/>
              </a:defRPr>
            </a:pPr>
            <a: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